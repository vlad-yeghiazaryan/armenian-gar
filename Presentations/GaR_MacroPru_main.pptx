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1"/>
  </p:notesMasterIdLst>
  <p:sldIdLst>
    <p:sldId id="256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3" autoAdjust="0"/>
    <p:restoredTop sz="94660"/>
  </p:normalViewPr>
  <p:slideViewPr>
    <p:cSldViewPr snapToGrid="0" showGuides="1">
      <p:cViewPr varScale="1">
        <p:scale>
          <a:sx n="122" d="100"/>
          <a:sy n="122" d="100"/>
        </p:scale>
        <p:origin x="240" y="3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9AFA60-FE89-4BC6-BCDB-3E25A545F19C}" type="datetimeFigureOut">
              <a:rPr lang="en-US" smtClean="0"/>
              <a:t>2/5/23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BBC6C2-AD1A-43E0-A4EB-5F0B4E096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3125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D4042-C484-4CE1-B4D5-D0083F494D31}" type="datetime1">
              <a:rPr lang="en-US" smtClean="0"/>
              <a:t>2/5/23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Ashot Nanyan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A3E4D-2A17-4DF0-AA3E-BCC04ECEFE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166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C629E-E5BF-49E7-AD13-6164E2D2A51E}" type="datetime1">
              <a:rPr lang="en-US" smtClean="0"/>
              <a:t>2/5/23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Ashot Nanyan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A3E4D-2A17-4DF0-AA3E-BCC04ECEFE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679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2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7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C2ACB-FE89-48EC-A9D2-128A9BF1EF3E}" type="datetime1">
              <a:rPr lang="en-US" smtClean="0"/>
              <a:t>2/5/23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Ashot Nanyan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A3E4D-2A17-4DF0-AA3E-BCC04ECEFE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206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1AA5F-2E4D-4BBC-BDAE-6393832E9EE4}" type="datetime1">
              <a:rPr lang="en-US" smtClean="0"/>
              <a:t>2/5/23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Ashot Nanyan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A3E4D-2A17-4DF0-AA3E-BCC04ECEFE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202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B70E8-644A-478B-96B8-198F7ED91401}" type="datetime1">
              <a:rPr lang="en-US" smtClean="0"/>
              <a:t>2/5/23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Ashot Nanyan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A3E4D-2A17-4DF0-AA3E-BCC04ECEFE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724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40236-90A8-47F7-A564-C33489F15822}" type="datetime1">
              <a:rPr lang="en-US" smtClean="0"/>
              <a:t>2/5/23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Ashot Nanyan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A3E4D-2A17-4DF0-AA3E-BCC04ECEFE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7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24478-F403-49EA-BF05-64CACBB76897}" type="datetime1">
              <a:rPr lang="en-US" smtClean="0"/>
              <a:t>2/5/23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Ashot Nanyan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A3E4D-2A17-4DF0-AA3E-BCC04ECEFE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268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7FF3D-4D88-473E-997D-2CA27D6BC08F}" type="datetime1">
              <a:rPr lang="en-US" smtClean="0"/>
              <a:t>2/5/23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Ashot Nanyan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A3E4D-2A17-4DF0-AA3E-BCC04ECEFE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857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825E8-73BE-4632-99FF-29A7B477ADE3}" type="datetime1">
              <a:rPr lang="en-US" smtClean="0"/>
              <a:t>2/5/23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Ashot Nanyan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A3E4D-2A17-4DF0-AA3E-BCC04ECEFE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521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AA0B2-370C-4428-8EF9-5FAE52A39A19}" type="datetime1">
              <a:rPr lang="en-US" smtClean="0"/>
              <a:t>2/5/23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Ashot Nanyan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A3E4D-2A17-4DF0-AA3E-BCC04ECEFE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106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2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0CCF2-3695-462F-81DB-5EAD2766E45E}" type="datetime1">
              <a:rPr lang="en-US" smtClean="0"/>
              <a:t>2/5/23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Ashot Nanyan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A3E4D-2A17-4DF0-AA3E-BCC04ECEFE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173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31CF5E-3069-4EA1-93B8-2BBAC2467036}" type="datetime1">
              <a:rPr lang="en-US" smtClean="0"/>
              <a:t>2/5/23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Ashot Nanyan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FA3E4D-2A17-4DF0-AA3E-BCC04ECEFE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519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157209"/>
            <a:ext cx="9144000" cy="1655762"/>
          </a:xfrm>
        </p:spPr>
        <p:txBody>
          <a:bodyPr>
            <a:normAutofit/>
          </a:bodyPr>
          <a:lstStyle/>
          <a:p>
            <a:r>
              <a:rPr lang="en-US" sz="2800" dirty="0"/>
              <a:t>Financial Stability Department</a:t>
            </a:r>
          </a:p>
          <a:p>
            <a:r>
              <a:rPr lang="en-US" sz="2800" dirty="0"/>
              <a:t>Central Bank of Armenia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09454" y="1463947"/>
            <a:ext cx="6373090" cy="158931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noProof="1">
                <a:solidFill>
                  <a:srgbClr val="00B050"/>
                </a:solidFill>
              </a:rPr>
              <a:t>MacroPru analytical toolkit at Central Bank of Armenia (CBA)</a:t>
            </a:r>
            <a:endParaRPr lang="en-US" sz="3600" noProof="1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6096000" cy="36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096000" y="0"/>
            <a:ext cx="6096000" cy="360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-1" y="6498000"/>
            <a:ext cx="6096000" cy="360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hy-AM" dirty="0">
              <a:solidFill>
                <a:srgbClr val="00B050"/>
              </a:solidFill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096000" y="6498000"/>
            <a:ext cx="6096000" cy="360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00B050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85814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6096000" cy="36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noProof="1">
                <a:cs typeface="Times New Roman" panose="02020603050405020304" pitchFamily="18" charset="0"/>
              </a:rPr>
              <a:t>Growth at Risk (GaR)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0" y="0"/>
            <a:ext cx="6096000" cy="360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Background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360000"/>
            <a:ext cx="12192000" cy="5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3600" dirty="0">
                <a:solidFill>
                  <a:srgbClr val="00B050"/>
                </a:solidFill>
              </a:rPr>
              <a:t>The Transformation 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519112" y="1076324"/>
            <a:ext cx="11153775" cy="52292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Clr>
                <a:srgbClr val="00B050"/>
              </a:buClr>
            </a:pPr>
            <a:endParaRPr lang="en-US" sz="8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spcBef>
                <a:spcPts val="1200"/>
              </a:spcBef>
              <a:spcAft>
                <a:spcPts val="2400"/>
              </a:spcAft>
              <a:buClr>
                <a:srgbClr val="00B050"/>
              </a:buClr>
            </a:pPr>
            <a:r>
              <a:rPr lang="en-US" sz="2800" dirty="0">
                <a:solidFill>
                  <a:schemeClr val="tx1"/>
                </a:solidFill>
              </a:rPr>
              <a:t>At the end of 2022 the Financial Stability team of the CBA presented its transformation plan which, among other things, intends:</a:t>
            </a:r>
          </a:p>
          <a:p>
            <a:pPr marL="742950" lvl="1" indent="-285750">
              <a:lnSpc>
                <a:spcPct val="150000"/>
              </a:lnSpc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noProof="1">
                <a:solidFill>
                  <a:schemeClr val="tx1"/>
                </a:solidFill>
              </a:rPr>
              <a:t>To connect MacroPru with a measure of Welfare, such as GDP.</a:t>
            </a:r>
          </a:p>
          <a:p>
            <a:pPr marL="742950" lvl="1" indent="-285750">
              <a:lnSpc>
                <a:spcPct val="150000"/>
              </a:lnSpc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en-US" sz="2800" noProof="1">
                <a:solidFill>
                  <a:schemeClr val="tx1"/>
                </a:solidFill>
              </a:rPr>
              <a:t> To quantify the uncertainty around the MacroPru effects.</a:t>
            </a:r>
          </a:p>
          <a:p>
            <a:pPr marL="742950" lvl="1" indent="-285750">
              <a:lnSpc>
                <a:spcPct val="150000"/>
              </a:lnSpc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en-US" sz="2800" noProof="1">
                <a:solidFill>
                  <a:schemeClr val="tx1"/>
                </a:solidFill>
              </a:rPr>
              <a:t> To provide better transparency between macro-prudential policymakers, society at large, and the state bodies.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-1" y="6498000"/>
            <a:ext cx="6096000" cy="360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rgbClr val="00B050"/>
                </a:solidFill>
                <a:cs typeface="Times New Roman" panose="02020603050405020304" pitchFamily="18" charset="0"/>
              </a:rPr>
              <a:t>Financial Stability Department</a:t>
            </a:r>
            <a:endParaRPr lang="hy-AM" dirty="0">
              <a:solidFill>
                <a:srgbClr val="00B050"/>
              </a:solidFill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096000" y="6498000"/>
            <a:ext cx="6096000" cy="360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rgbClr val="00B050"/>
                </a:solidFill>
                <a:cs typeface="Times New Roman" panose="02020603050405020304" pitchFamily="18" charset="0"/>
              </a:rPr>
              <a:t>1 / </a:t>
            </a:r>
          </a:p>
        </p:txBody>
      </p:sp>
    </p:spTree>
    <p:extLst>
      <p:ext uri="{BB962C8B-B14F-4D97-AF65-F5344CB8AC3E}">
        <p14:creationId xmlns:p14="http://schemas.microsoft.com/office/powerpoint/2010/main" val="1485752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6096000" cy="36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noProof="1">
                <a:cs typeface="Times New Roman" panose="02020603050405020304" pitchFamily="18" charset="0"/>
              </a:rPr>
              <a:t>Growth at Risk (GaR)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0" y="0"/>
            <a:ext cx="6096000" cy="360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Background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360000"/>
            <a:ext cx="12192000" cy="5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3600" noProof="1">
                <a:solidFill>
                  <a:srgbClr val="00B050"/>
                </a:solidFill>
              </a:rPr>
              <a:t>MacroPru and GDP</a:t>
            </a:r>
          </a:p>
        </p:txBody>
      </p:sp>
      <p:sp>
        <p:nvSpPr>
          <p:cNvPr id="6" name="Rectangle 5"/>
          <p:cNvSpPr/>
          <p:nvPr/>
        </p:nvSpPr>
        <p:spPr>
          <a:xfrm>
            <a:off x="519112" y="1076324"/>
            <a:ext cx="11153775" cy="52292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  <a:buClr>
                <a:srgbClr val="00B050"/>
              </a:buClr>
            </a:pPr>
            <a:endParaRPr lang="en-US" sz="12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buClr>
                <a:srgbClr val="00B050"/>
              </a:buClr>
            </a:pPr>
            <a:r>
              <a:rPr lang="en-US" sz="2800" dirty="0">
                <a:solidFill>
                  <a:schemeClr val="tx1"/>
                </a:solidFill>
              </a:rPr>
              <a:t>External communication of the policy measures through GDP.</a:t>
            </a:r>
          </a:p>
          <a:p>
            <a:pPr marL="268288" indent="-268288">
              <a:lnSpc>
                <a:spcPct val="150000"/>
              </a:lnSpc>
              <a:buClr>
                <a:srgbClr val="00B050"/>
              </a:buClr>
              <a:buFont typeface="Wingdings" panose="05000000000000000000" pitchFamily="2" charset="2"/>
              <a:buChar char="Ø"/>
            </a:pPr>
            <a:endParaRPr lang="en-US" sz="2800" dirty="0">
              <a:solidFill>
                <a:schemeClr val="tx1"/>
              </a:solidFill>
            </a:endParaRPr>
          </a:p>
          <a:p>
            <a:pPr marL="268288" indent="-268288">
              <a:lnSpc>
                <a:spcPct val="150000"/>
              </a:lnSpc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</a:rPr>
              <a:t> The idea is to demonstrate that even though </a:t>
            </a:r>
            <a:r>
              <a:rPr lang="en-US" sz="2800" noProof="1">
                <a:solidFill>
                  <a:schemeClr val="tx1"/>
                </a:solidFill>
              </a:rPr>
              <a:t>MacroPru</a:t>
            </a:r>
            <a:r>
              <a:rPr lang="en-US" sz="2800" dirty="0">
                <a:solidFill>
                  <a:schemeClr val="tx1"/>
                </a:solidFill>
              </a:rPr>
              <a:t> may create immediate </a:t>
            </a:r>
            <a:r>
              <a:rPr lang="en-US" sz="2800" b="1" dirty="0">
                <a:solidFill>
                  <a:schemeClr val="tx1"/>
                </a:solidFill>
              </a:rPr>
              <a:t>costs in the short-run</a:t>
            </a:r>
            <a:r>
              <a:rPr lang="en-US" sz="2800" dirty="0">
                <a:solidFill>
                  <a:schemeClr val="tx1"/>
                </a:solidFill>
              </a:rPr>
              <a:t>, they will be more than </a:t>
            </a:r>
            <a:r>
              <a:rPr lang="en-US" sz="2800" b="1" dirty="0">
                <a:solidFill>
                  <a:schemeClr val="tx1"/>
                </a:solidFill>
              </a:rPr>
              <a:t>compensated in the long-run</a:t>
            </a:r>
            <a:r>
              <a:rPr lang="en-US" sz="2800" dirty="0">
                <a:solidFill>
                  <a:schemeClr val="tx1"/>
                </a:solidFill>
              </a:rPr>
              <a:t> in the form of stable and sustainable GDP growth.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-1" y="6498000"/>
            <a:ext cx="6096000" cy="360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rgbClr val="00B050"/>
                </a:solidFill>
                <a:cs typeface="Times New Roman" panose="02020603050405020304" pitchFamily="18" charset="0"/>
              </a:rPr>
              <a:t>Financial Stability Department</a:t>
            </a:r>
            <a:endParaRPr lang="hy-AM" dirty="0">
              <a:solidFill>
                <a:srgbClr val="00B050"/>
              </a:solidFill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096000" y="6498000"/>
            <a:ext cx="6096000" cy="360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rgbClr val="00B050"/>
                </a:solidFill>
                <a:cs typeface="Times New Roman" panose="02020603050405020304" pitchFamily="18" charset="0"/>
              </a:rPr>
              <a:t>1 / </a:t>
            </a:r>
          </a:p>
        </p:txBody>
      </p:sp>
    </p:spTree>
    <p:extLst>
      <p:ext uri="{BB962C8B-B14F-4D97-AF65-F5344CB8AC3E}">
        <p14:creationId xmlns:p14="http://schemas.microsoft.com/office/powerpoint/2010/main" val="740180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6096000" cy="36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noProof="1">
                <a:cs typeface="Times New Roman" panose="02020603050405020304" pitchFamily="18" charset="0"/>
              </a:rPr>
              <a:t>Growth at Risk (GaR)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0" y="0"/>
            <a:ext cx="6096000" cy="360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Background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360000"/>
            <a:ext cx="12192000" cy="5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3600" noProof="1">
                <a:solidFill>
                  <a:srgbClr val="00B050"/>
                </a:solidFill>
              </a:rPr>
              <a:t>Uncertainty around MacroPru</a:t>
            </a:r>
          </a:p>
        </p:txBody>
      </p:sp>
      <p:sp>
        <p:nvSpPr>
          <p:cNvPr id="6" name="Rectangle 5"/>
          <p:cNvSpPr/>
          <p:nvPr/>
        </p:nvSpPr>
        <p:spPr>
          <a:xfrm>
            <a:off x="519112" y="1076324"/>
            <a:ext cx="11153775" cy="52292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  <a:buClr>
                <a:srgbClr val="00B050"/>
              </a:buClr>
            </a:pPr>
            <a:endParaRPr lang="en-US" sz="2800" dirty="0">
              <a:solidFill>
                <a:schemeClr val="tx1"/>
              </a:solidFill>
            </a:endParaRPr>
          </a:p>
          <a:p>
            <a:pPr marL="268288" indent="-268288">
              <a:lnSpc>
                <a:spcPct val="150000"/>
              </a:lnSpc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</a:rPr>
              <a:t>Quantifying uncertainty around </a:t>
            </a:r>
            <a:r>
              <a:rPr lang="en-US" sz="2800" noProof="1">
                <a:solidFill>
                  <a:schemeClr val="tx1"/>
                </a:solidFill>
              </a:rPr>
              <a:t>MacroPru</a:t>
            </a:r>
            <a:r>
              <a:rPr lang="en-US" sz="2800" dirty="0">
                <a:solidFill>
                  <a:schemeClr val="tx1"/>
                </a:solidFill>
              </a:rPr>
              <a:t> aims to capture the effects of the policy on the </a:t>
            </a:r>
            <a:r>
              <a:rPr lang="en-US" sz="2800" b="1" dirty="0">
                <a:solidFill>
                  <a:schemeClr val="tx1"/>
                </a:solidFill>
              </a:rPr>
              <a:t>entire distribution of GDP</a:t>
            </a:r>
            <a:r>
              <a:rPr lang="en-US" sz="2800" dirty="0">
                <a:solidFill>
                  <a:schemeClr val="tx1"/>
                </a:solidFill>
              </a:rPr>
              <a:t> and not only its mean.</a:t>
            </a:r>
          </a:p>
          <a:p>
            <a:pPr marL="268288" indent="-268288">
              <a:lnSpc>
                <a:spcPct val="150000"/>
              </a:lnSpc>
              <a:buClr>
                <a:srgbClr val="00B050"/>
              </a:buClr>
              <a:buFont typeface="Wingdings" panose="05000000000000000000" pitchFamily="2" charset="2"/>
              <a:buChar char="Ø"/>
            </a:pPr>
            <a:endParaRPr lang="en-US" sz="2800" dirty="0">
              <a:solidFill>
                <a:schemeClr val="tx1"/>
              </a:solidFill>
            </a:endParaRPr>
          </a:p>
          <a:p>
            <a:pPr marL="268288" indent="-268288">
              <a:lnSpc>
                <a:spcPct val="150000"/>
              </a:lnSpc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</a:rPr>
              <a:t>From the policy perspective it is of first-order importance to ascertain the effect of </a:t>
            </a:r>
            <a:r>
              <a:rPr lang="en-US" sz="2800" noProof="1">
                <a:solidFill>
                  <a:schemeClr val="tx1"/>
                </a:solidFill>
              </a:rPr>
              <a:t>MacroPru</a:t>
            </a:r>
            <a:r>
              <a:rPr lang="en-US" sz="2800" dirty="0">
                <a:solidFill>
                  <a:schemeClr val="tx1"/>
                </a:solidFill>
              </a:rPr>
              <a:t> on the probability of crisis.</a:t>
            </a:r>
          </a:p>
          <a:p>
            <a:pPr>
              <a:lnSpc>
                <a:spcPct val="150000"/>
              </a:lnSpc>
              <a:buClr>
                <a:srgbClr val="00B050"/>
              </a:buClr>
            </a:pP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-1" y="6498000"/>
            <a:ext cx="6096000" cy="360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rgbClr val="00B050"/>
                </a:solidFill>
                <a:cs typeface="Times New Roman" panose="02020603050405020304" pitchFamily="18" charset="0"/>
              </a:rPr>
              <a:t>Financial Stability Department</a:t>
            </a:r>
            <a:endParaRPr lang="hy-AM" dirty="0">
              <a:solidFill>
                <a:srgbClr val="00B050"/>
              </a:solidFill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096000" y="6498000"/>
            <a:ext cx="6096000" cy="360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rgbClr val="00B050"/>
                </a:solidFill>
                <a:cs typeface="Times New Roman" panose="02020603050405020304" pitchFamily="18" charset="0"/>
              </a:rPr>
              <a:t>1 / </a:t>
            </a:r>
          </a:p>
        </p:txBody>
      </p:sp>
    </p:spTree>
    <p:extLst>
      <p:ext uri="{BB962C8B-B14F-4D97-AF65-F5344CB8AC3E}">
        <p14:creationId xmlns:p14="http://schemas.microsoft.com/office/powerpoint/2010/main" val="12380380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6096000" cy="36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noProof="1">
                <a:cs typeface="Times New Roman" panose="02020603050405020304" pitchFamily="18" charset="0"/>
              </a:rPr>
              <a:t>Growth at Risk (GaR)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0" y="0"/>
            <a:ext cx="6096000" cy="360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What is </a:t>
            </a:r>
            <a:r>
              <a:rPr lang="en-US" noProof="1">
                <a:solidFill>
                  <a:srgbClr val="00B050"/>
                </a:solidFill>
              </a:rPr>
              <a:t>GaR</a:t>
            </a:r>
            <a:r>
              <a:rPr lang="en-US" dirty="0">
                <a:solidFill>
                  <a:srgbClr val="00B050"/>
                </a:solidFill>
              </a:rPr>
              <a:t>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360000"/>
            <a:ext cx="12192000" cy="5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3600" noProof="1">
                <a:solidFill>
                  <a:srgbClr val="00B050"/>
                </a:solidFill>
              </a:rPr>
              <a:t>How GaR fits into this agenda?</a:t>
            </a:r>
          </a:p>
        </p:txBody>
      </p:sp>
      <p:sp>
        <p:nvSpPr>
          <p:cNvPr id="6" name="Rectangle 5"/>
          <p:cNvSpPr/>
          <p:nvPr/>
        </p:nvSpPr>
        <p:spPr>
          <a:xfrm>
            <a:off x="519112" y="1076324"/>
            <a:ext cx="11153775" cy="52292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  <a:buClr>
                <a:srgbClr val="00B050"/>
              </a:buClr>
            </a:pPr>
            <a:endParaRPr lang="en-US" sz="28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buClr>
                <a:srgbClr val="00B050"/>
              </a:buClr>
            </a:pPr>
            <a:r>
              <a:rPr lang="en-US" sz="2800" dirty="0">
                <a:solidFill>
                  <a:schemeClr val="tx1"/>
                </a:solidFill>
              </a:rPr>
              <a:t>Growth at Risk (</a:t>
            </a:r>
            <a:r>
              <a:rPr lang="en-US" sz="2800" noProof="1">
                <a:solidFill>
                  <a:schemeClr val="tx1"/>
                </a:solidFill>
              </a:rPr>
              <a:t>GaR</a:t>
            </a:r>
            <a:r>
              <a:rPr lang="en-US" sz="2800" dirty="0">
                <a:solidFill>
                  <a:schemeClr val="tx1"/>
                </a:solidFill>
              </a:rPr>
              <a:t>) is a framework based on </a:t>
            </a:r>
            <a:r>
              <a:rPr lang="en-US" sz="2800" b="1" dirty="0">
                <a:solidFill>
                  <a:schemeClr val="tx1"/>
                </a:solidFill>
              </a:rPr>
              <a:t>quantile regression</a:t>
            </a:r>
            <a:r>
              <a:rPr lang="en-US" sz="2800" dirty="0">
                <a:solidFill>
                  <a:schemeClr val="tx1"/>
                </a:solidFill>
              </a:rPr>
              <a:t> methodology allowing to accomplish the above objectives. </a:t>
            </a:r>
          </a:p>
          <a:p>
            <a:pPr marL="725488" lvl="1" indent="-268288">
              <a:lnSpc>
                <a:spcPct val="150000"/>
              </a:lnSpc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en-US" sz="2800" noProof="1">
                <a:solidFill>
                  <a:schemeClr val="tx1"/>
                </a:solidFill>
              </a:rPr>
              <a:t>Measure of welfare</a:t>
            </a:r>
          </a:p>
          <a:p>
            <a:pPr marL="725488" lvl="1" indent="-268288">
              <a:lnSpc>
                <a:spcPct val="150000"/>
              </a:lnSpc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en-US" sz="2800" noProof="1">
                <a:solidFill>
                  <a:schemeClr val="tx1"/>
                </a:solidFill>
              </a:rPr>
              <a:t>Quantifies uncertainty</a:t>
            </a:r>
          </a:p>
          <a:p>
            <a:pPr marL="725488" lvl="1" indent="-268288">
              <a:lnSpc>
                <a:spcPct val="150000"/>
              </a:lnSpc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</a:rPr>
              <a:t>Communication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-1" y="6498000"/>
            <a:ext cx="6096000" cy="360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rgbClr val="00B050"/>
                </a:solidFill>
                <a:cs typeface="Times New Roman" panose="02020603050405020304" pitchFamily="18" charset="0"/>
              </a:rPr>
              <a:t>Financial Stability Department</a:t>
            </a:r>
            <a:endParaRPr lang="hy-AM" dirty="0">
              <a:solidFill>
                <a:srgbClr val="00B050"/>
              </a:solidFill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096000" y="6498000"/>
            <a:ext cx="6096000" cy="360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rgbClr val="00B050"/>
                </a:solidFill>
                <a:cs typeface="Times New Roman" panose="02020603050405020304" pitchFamily="18" charset="0"/>
              </a:rPr>
              <a:t>1 / </a:t>
            </a:r>
          </a:p>
        </p:txBody>
      </p:sp>
    </p:spTree>
    <p:extLst>
      <p:ext uri="{BB962C8B-B14F-4D97-AF65-F5344CB8AC3E}">
        <p14:creationId xmlns:p14="http://schemas.microsoft.com/office/powerpoint/2010/main" val="18429124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6096000" cy="36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noProof="1">
                <a:cs typeface="Times New Roman" panose="02020603050405020304" pitchFamily="18" charset="0"/>
              </a:rPr>
              <a:t>Growth at Risk (GaR)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0" y="0"/>
            <a:ext cx="6096000" cy="360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What is </a:t>
            </a:r>
            <a:r>
              <a:rPr lang="en-US" noProof="1">
                <a:solidFill>
                  <a:srgbClr val="00B050"/>
                </a:solidFill>
              </a:rPr>
              <a:t>GaR</a:t>
            </a:r>
            <a:r>
              <a:rPr lang="en-US" dirty="0">
                <a:solidFill>
                  <a:srgbClr val="00B050"/>
                </a:solidFill>
              </a:rPr>
              <a:t>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360000"/>
            <a:ext cx="12192000" cy="5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3600" noProof="1">
                <a:solidFill>
                  <a:srgbClr val="00B050"/>
                </a:solidFill>
              </a:rPr>
              <a:t>GaR Formulas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19112" y="1076324"/>
            <a:ext cx="11153775" cy="52292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  <a:buClr>
                <a:srgbClr val="00B050"/>
              </a:buClr>
            </a:pPr>
            <a:r>
              <a:rPr lang="en-US" sz="2800" dirty="0">
                <a:solidFill>
                  <a:schemeClr val="tx1"/>
                </a:solidFill>
              </a:rPr>
              <a:t>Welfare function by Suarez (2022):</a:t>
            </a:r>
          </a:p>
          <a:p>
            <a:pPr>
              <a:lnSpc>
                <a:spcPct val="150000"/>
              </a:lnSpc>
              <a:buClr>
                <a:srgbClr val="00B050"/>
              </a:buClr>
            </a:pPr>
            <a:endParaRPr lang="en-US" sz="28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buClr>
                <a:srgbClr val="00B050"/>
              </a:buClr>
            </a:pPr>
            <a:endParaRPr lang="en-US" sz="28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buClr>
                <a:srgbClr val="00B050"/>
              </a:buClr>
            </a:pPr>
            <a:r>
              <a:rPr lang="en-US" sz="2800" dirty="0">
                <a:solidFill>
                  <a:schemeClr val="tx1"/>
                </a:solidFill>
              </a:rPr>
              <a:t>Loss function in general form:</a:t>
            </a:r>
          </a:p>
        </p:txBody>
      </p:sp>
      <p:sp>
        <p:nvSpPr>
          <p:cNvPr id="10" name="Rectangle 9"/>
          <p:cNvSpPr/>
          <p:nvPr/>
        </p:nvSpPr>
        <p:spPr>
          <a:xfrm>
            <a:off x="-1" y="6498000"/>
            <a:ext cx="6096000" cy="360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rgbClr val="00B050"/>
                </a:solidFill>
                <a:cs typeface="Times New Roman" panose="02020603050405020304" pitchFamily="18" charset="0"/>
              </a:rPr>
              <a:t>Financial Stability Department</a:t>
            </a:r>
            <a:endParaRPr lang="hy-AM" dirty="0">
              <a:solidFill>
                <a:srgbClr val="00B050"/>
              </a:solidFill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096000" y="6498000"/>
            <a:ext cx="6096000" cy="360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rgbClr val="00B050"/>
                </a:solidFill>
                <a:cs typeface="Times New Roman" panose="02020603050405020304" pitchFamily="18" charset="0"/>
              </a:rPr>
              <a:t>1 /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45F5D35-FED3-6F32-42B0-836E147DD4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112" y="1765751"/>
            <a:ext cx="2769538" cy="126126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FD838B2-D5A4-6DFA-2CE2-DA2B404F26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869" y="3902394"/>
            <a:ext cx="7772400" cy="1527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523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6096000" cy="36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noProof="1">
                <a:cs typeface="Times New Roman" panose="02020603050405020304" pitchFamily="18" charset="0"/>
              </a:rPr>
              <a:t>Growth at Risk (GaR)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0" y="0"/>
            <a:ext cx="6096000" cy="360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Application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360000"/>
            <a:ext cx="12192000" cy="5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3600" noProof="1">
                <a:solidFill>
                  <a:srgbClr val="00B050"/>
                </a:solidFill>
              </a:rPr>
              <a:t>Practical 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19112" y="1076324"/>
            <a:ext cx="11153775" cy="52292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68288" indent="-268288">
              <a:lnSpc>
                <a:spcPct val="150000"/>
              </a:lnSpc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en-US" sz="2800" noProof="1">
                <a:solidFill>
                  <a:schemeClr val="tx1"/>
                </a:solidFill>
              </a:rPr>
              <a:t> We view the GaR project as being composed of the following tasks:</a:t>
            </a:r>
          </a:p>
          <a:p>
            <a:pPr marL="1182688" lvl="2" indent="-268288">
              <a:lnSpc>
                <a:spcPct val="150000"/>
              </a:lnSpc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</a:rPr>
              <a:t> Data Transformation</a:t>
            </a:r>
          </a:p>
          <a:p>
            <a:pPr marL="1182688" lvl="2" indent="-268288">
              <a:lnSpc>
                <a:spcPct val="150000"/>
              </a:lnSpc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</a:rPr>
              <a:t> Modelling</a:t>
            </a:r>
          </a:p>
          <a:p>
            <a:pPr marL="1182688" lvl="2" indent="-268288">
              <a:lnSpc>
                <a:spcPct val="150000"/>
              </a:lnSpc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</a:rPr>
              <a:t> Policy Simulations</a:t>
            </a:r>
          </a:p>
          <a:p>
            <a:pPr marL="0" lvl="1">
              <a:lnSpc>
                <a:spcPct val="150000"/>
              </a:lnSpc>
              <a:buClr>
                <a:srgbClr val="00B050"/>
              </a:buClr>
            </a:pPr>
            <a:r>
              <a:rPr lang="en-US" sz="2800" dirty="0">
                <a:solidFill>
                  <a:schemeClr val="tx1"/>
                </a:solidFill>
              </a:rPr>
              <a:t>On the modelling side we try to combine traditional econometrics with statistical learning methods, such as model selection via forward stepwise selection. </a:t>
            </a:r>
          </a:p>
        </p:txBody>
      </p:sp>
      <p:sp>
        <p:nvSpPr>
          <p:cNvPr id="10" name="Rectangle 9"/>
          <p:cNvSpPr/>
          <p:nvPr/>
        </p:nvSpPr>
        <p:spPr>
          <a:xfrm>
            <a:off x="-1" y="6498000"/>
            <a:ext cx="6096000" cy="360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rgbClr val="00B050"/>
                </a:solidFill>
                <a:cs typeface="Times New Roman" panose="02020603050405020304" pitchFamily="18" charset="0"/>
              </a:rPr>
              <a:t>Financial Stability Department</a:t>
            </a:r>
            <a:endParaRPr lang="hy-AM" dirty="0">
              <a:solidFill>
                <a:srgbClr val="00B050"/>
              </a:solidFill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096000" y="6498000"/>
            <a:ext cx="6096000" cy="360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rgbClr val="00B050"/>
                </a:solidFill>
                <a:cs typeface="Times New Roman" panose="02020603050405020304" pitchFamily="18" charset="0"/>
              </a:rPr>
              <a:t>1 / </a:t>
            </a:r>
          </a:p>
        </p:txBody>
      </p:sp>
    </p:spTree>
    <p:extLst>
      <p:ext uri="{BB962C8B-B14F-4D97-AF65-F5344CB8AC3E}">
        <p14:creationId xmlns:p14="http://schemas.microsoft.com/office/powerpoint/2010/main" val="29554068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6096000" cy="36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noProof="1">
                <a:cs typeface="Times New Roman" panose="02020603050405020304" pitchFamily="18" charset="0"/>
              </a:rPr>
              <a:t>Growth at Risk (GaR)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0" y="0"/>
            <a:ext cx="6096000" cy="360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Application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360000"/>
            <a:ext cx="12192000" cy="5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3600" noProof="1">
                <a:solidFill>
                  <a:srgbClr val="00B050"/>
                </a:solidFill>
              </a:rPr>
              <a:t>Expected results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-1" y="6498000"/>
            <a:ext cx="6096000" cy="360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rgbClr val="00B050"/>
                </a:solidFill>
                <a:cs typeface="Times New Roman" panose="02020603050405020304" pitchFamily="18" charset="0"/>
              </a:rPr>
              <a:t>Financial Stability Department</a:t>
            </a:r>
            <a:endParaRPr lang="hy-AM" dirty="0">
              <a:solidFill>
                <a:srgbClr val="00B050"/>
              </a:solidFill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096000" y="6498000"/>
            <a:ext cx="6096000" cy="360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rgbClr val="00B050"/>
                </a:solidFill>
                <a:cs typeface="Times New Roman" panose="02020603050405020304" pitchFamily="18" charset="0"/>
              </a:rPr>
              <a:t>1 / 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EBAECB1-82AC-EFAF-D047-87BC2265DA75}"/>
              </a:ext>
            </a:extLst>
          </p:cNvPr>
          <p:cNvGrpSpPr/>
          <p:nvPr/>
        </p:nvGrpSpPr>
        <p:grpSpPr>
          <a:xfrm>
            <a:off x="751353" y="1362169"/>
            <a:ext cx="10689291" cy="4709662"/>
            <a:chOff x="984644" y="988212"/>
            <a:chExt cx="10689291" cy="5306264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D6D4E2F-3FE3-2EDE-675B-3B9FA76115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4644" y="988212"/>
              <a:ext cx="10689291" cy="5306264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4841901-6F55-FCB1-3579-9B44909456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82936" y="4957704"/>
              <a:ext cx="640080" cy="26627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038711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909454" y="2634342"/>
            <a:ext cx="6373090" cy="158931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noProof="1">
                <a:solidFill>
                  <a:srgbClr val="00B050"/>
                </a:solidFill>
              </a:rPr>
              <a:t>Thank You!</a:t>
            </a:r>
            <a:endParaRPr lang="en-US" sz="3600" noProof="1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6096000" cy="36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096000" y="0"/>
            <a:ext cx="6096000" cy="360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-1" y="6498000"/>
            <a:ext cx="6096000" cy="360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hy-AM" dirty="0">
              <a:solidFill>
                <a:srgbClr val="00B050"/>
              </a:solidFill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096000" y="6498000"/>
            <a:ext cx="6096000" cy="360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00B050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18207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284</TotalTime>
  <Words>376</Words>
  <Application>Microsoft Macintosh PowerPoint</Application>
  <PresentationFormat>Widescreen</PresentationFormat>
  <Paragraphs>66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ashot</dc:creator>
  <cp:lastModifiedBy>Victor Yerz</cp:lastModifiedBy>
  <cp:revision>33</cp:revision>
  <dcterms:created xsi:type="dcterms:W3CDTF">2021-01-11T16:25:40Z</dcterms:created>
  <dcterms:modified xsi:type="dcterms:W3CDTF">2023-02-05T13:15:51Z</dcterms:modified>
</cp:coreProperties>
</file>